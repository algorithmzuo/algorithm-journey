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2400" u="none" kumimoji="0" normalizeH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12" name="Presentation Title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13" name="Body Level One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Presentation Title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Presentation Title</a:t>
            </a:r>
          </a:p>
        </p:txBody>
      </p:sp>
      <p:sp>
        <p:nvSpPr>
          <p:cNvPr id="23" name="Author and Date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Author and Date</a:t>
            </a:r>
          </a:p>
        </p:txBody>
      </p:sp>
      <p:sp>
        <p:nvSpPr>
          <p:cNvPr id="24" name="Body Level One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Presentation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, and hummus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Slide Title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Slide Title</a:t>
            </a:r>
          </a:p>
        </p:txBody>
      </p:sp>
      <p:sp>
        <p:nvSpPr>
          <p:cNvPr id="34" name="Body Level One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Slide Subtitle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43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44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61" name="Body Level One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Bowl of pappardelle pasta with parsley butter, roasted hazelnuts, and shaved parmesan cheese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Slide Title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6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ection Title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Section Title</a:t>
            </a:r>
          </a:p>
        </p:txBody>
      </p:sp>
      <p:sp>
        <p:nvSpPr>
          <p:cNvPr id="72" name="Slide Number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Slide Title</a:t>
            </a:r>
          </a:p>
        </p:txBody>
      </p:sp>
      <p:sp>
        <p:nvSpPr>
          <p:cNvPr id="80" name="Slide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Slide Subtitle</a:t>
            </a:r>
          </a:p>
        </p:txBody>
      </p:sp>
      <p:sp>
        <p:nvSpPr>
          <p:cNvPr id="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Agenda Title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Agenda Title</a:t>
            </a:r>
          </a:p>
        </p:txBody>
      </p:sp>
      <p:sp>
        <p:nvSpPr>
          <p:cNvPr id="89" name="Agenda Subtitle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Agenda Subtitle</a:t>
            </a:r>
          </a:p>
        </p:txBody>
      </p:sp>
      <p:sp>
        <p:nvSpPr>
          <p:cNvPr id="90" name="Body Level One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Agenda Topics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Body Level One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Statement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9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Body Level One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07" name="Fact information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Fact information</a:t>
            </a:r>
          </a:p>
        </p:txBody>
      </p:sp>
      <p:sp>
        <p:nvSpPr>
          <p:cNvPr id="10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Attribution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Attribution</a:t>
            </a:r>
          </a:p>
        </p:txBody>
      </p:sp>
      <p:sp>
        <p:nvSpPr>
          <p:cNvPr id="116" name="Body Level One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“Notable Quote”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Bowl of salad with fried rice, boiled eggs, and chopsticks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5" name="Bowl with salmon cakes, salad, and hummus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6" name="Bowl of pappardelle pasta with parsley butter, roasted hazelnuts, and shaved parmesan cheese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bowl of salad with fried rice, boiled eggs, and chopsticks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Title</a:t>
            </a:r>
          </a:p>
        </p:txBody>
      </p:sp>
      <p:sp>
        <p:nvSpPr>
          <p:cNvPr id="3" name="Body Level One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Slide bullet text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6329" TargetMode="Externa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10603" TargetMode="Externa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3345" TargetMode="Externa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3241" TargetMode="Externa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www.luogu.com.cn/problem/P5311" TargetMode="Externa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点分树和动态点分治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点分树和动态点分治</a:t>
            </a:r>
          </a:p>
        </p:txBody>
      </p:sp>
      <p:sp>
        <p:nvSpPr>
          <p:cNvPr id="152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53" name="前置知识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前置知识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讲解110、讲解114 - 线段树基础、开点线段树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讲解118、讲解161 - 树上倍增求LCA、重链剖分求LCA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讲解183、讲解184 - 静态点分治基础课、静态点分治习题课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本节课讲述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点分树和动态点分治的原理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模版题    题目1、题目2、题目3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经典题    题目4、题目5、题目6、题目7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点分树和动态点分治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点分树和动态点分治</a:t>
            </a:r>
          </a:p>
        </p:txBody>
      </p:sp>
      <p:sp>
        <p:nvSpPr>
          <p:cNvPr id="156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57" name="动态点分治，就是在查询的基础上，又有修改操作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动态点分治，就是在查询的基础上，又有修改操作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点分树是保证修改/查询都能快速完成的关键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点分树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1，点分治的过程中，每次求出一棵子树的重心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2，记录每个重心的上级重心，等同于记录了一棵重构的树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3，这棵重构的树叫点分树，高度为O(log n)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4，当然可以完整记录点分树，不过一般情况下，只记录上级重心就够了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点分树的性质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1，点分树上的一个子树，一定是原树的一个联通块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2，点分树上两点的LCA，一定在原树两点的简单路径上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3，除此之外，点分树和原树的联系很少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点分树和动态点分治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点分树和动态点分治</a:t>
            </a:r>
          </a:p>
        </p:txBody>
      </p:sp>
      <p:sp>
        <p:nvSpPr>
          <p:cNvPr id="160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1" name="点分树的作用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点分树的作用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原树的点对(x, y)，在点分树上的最低公共祖先记为c，c在两点的简单路径上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所以，dist(x, y) = dist(x, c) + dist(y, c)，dist指原树距离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讨论点x与其他点的某些答案时，尤其是</a:t>
            </a:r>
            <a:r>
              <a:rPr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</a:rPr>
              <a:t> 和距离有关的 </a:t>
            </a:r>
            <a:r>
              <a:t>某些答案时，可以对其他点进行分类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根据来自x点的哪个祖先重心，其他点最多被分成O(log n)类，可能性的数量很少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核心是修改/查询到底怎么维护信息？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1，点分树上，点x的信息，会被上方多个祖先重心统计，作为每个祖先重心的子树信息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2，一个节点的信息，会被多次统计，所以需要容斥逻辑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3，修改时，从x往上的链中，每个上级重心加入了统计，每个下级重心就减少统计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4，查询时，从x往上的链中，每获得上级重心的统计，就减少下级重心的统计，防止重复计算</a:t>
            </a:r>
          </a:p>
          <a:p>
            <a:pPr algn="l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8255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课上通过模版题1，重点图解容斥逻辑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点分树和动态点分治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点分树和动态点分治</a:t>
            </a:r>
          </a:p>
        </p:txBody>
      </p:sp>
      <p:sp>
        <p:nvSpPr>
          <p:cNvPr id="164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5" name="题目1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震波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树上有n个点，每个点有点权，给定n-1条边，边权都是1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接下来有m条操作，每条操作是如下两种类型中的一种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0 x y : 点x出发，距离&lt;=y的所有点，打印点权累加和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1 x y : 点x的点权变成y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n、m &lt;=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点权 &lt;= 10^4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本题要求强制在线，得到操作参数的规则，打开测试链接查看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https://www.luogu.com.cn/problem/P6329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点分树 + 开点线段树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时间复杂度O(m * log n * log n)，空间复杂度O(n * log n)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点分树和动态点分治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点分树和动态点分治</a:t>
            </a:r>
          </a:p>
        </p:txBody>
      </p:sp>
      <p:sp>
        <p:nvSpPr>
          <p:cNvPr id="168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69" name="题目2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题目2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烁烁的游戏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树上有n个点，每个点的初始点权是0，给定n-1条边，边权都是1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接下来有m条操作，每条操作是如下两种类型中的一种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M x k v : 点x出发，距离&lt;=k的所有点，点权都加上v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Q x     : 打印点x的点权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n、m &lt;=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-10000 &lt;= v &lt;= +10000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https://www.luogu.com.cn/problem/P10603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点分树 + 开点线段树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点分树和动态点分治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点分树和动态点分治</a:t>
            </a:r>
          </a:p>
        </p:txBody>
      </p:sp>
      <p:sp>
        <p:nvSpPr>
          <p:cNvPr id="172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73" name="题目3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题目3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Atm的树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树上有n个点，给定n-1条边，每条边有边权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现在关心，从节点x出发到达其他点的距离中，第k小的距离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注意，节点x到自己的距离0，不参与距离评比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给定正数k，打印每个节点的第k小距离，一共n条打印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15000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k &lt;= 5000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边权 &lt;= 10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https://www.luogu.com.cn/problem/P10604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点分树 + 开点线段树 + 二分答案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点分树和动态点分治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点分树和动态点分治</a:t>
            </a:r>
          </a:p>
        </p:txBody>
      </p:sp>
      <p:sp>
        <p:nvSpPr>
          <p:cNvPr id="176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77" name="题目4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题目4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幻想乡战略游戏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树上有n个点，每个点的初始点权是0，给定n-1条边，每条边有边权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如果点x是指挥点，它指挥点y的花费 = x到y的简单路径权值和 * y的点权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树上存在某个最佳的指挥点，指挥所有点的总花费最小，叫做最小指挥总花费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一共m条操作，格式 x v : 先把x的点权增加v，然后打印此时的最小指挥总花费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注意参数v有可能是负数，但题目保证任何时候，点权不会出现负数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n、m &lt;=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边权 &lt;= 1000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-1000 &lt;= v &lt;= +1000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https://www.luogu.com.cn/problem/P3345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讲解184，题目3，快递员，也是这种题型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点分树 + 按重心移动 + 每个联通区的重心在边上记录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点分树和动态点分治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点分树和动态点分治</a:t>
            </a:r>
          </a:p>
        </p:txBody>
      </p:sp>
      <p:sp>
        <p:nvSpPr>
          <p:cNvPr id="180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81" name="题目5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开店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一共n个人，每个人有年龄，给定n-1条路，每条路有距离，路把人连成一棵树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一共m条查询，格式 u l r : 查询年龄范围[l, r]的所有人，到第u号人的距离总和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1.5 * 10^5    1 &lt;= m &lt;= 2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0 &lt;= 年龄值 &lt;= 10^9      1 &lt;= 距离值 &lt;= 1000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本题要求强制在线，得到操作参数的规则，打开测试链接查看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https://www.luogu.com.cn/problem/P3241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每个重心建立，cur列表(年龄，到当前重心距离)，fa列表(年龄，到上级重心距离)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注意点！总距离往上级转移难，往下级转移容易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点分树 + 收集信息并排序 + 建立前缀和 + 二分搜索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点分树和动态点分治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点分树和动态点分治</a:t>
            </a:r>
          </a:p>
        </p:txBody>
      </p:sp>
      <p:sp>
        <p:nvSpPr>
          <p:cNvPr id="184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85" name="题目6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题目6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成都七中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树上有n个点，每个点给定颜色，给定n-1条边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一共m条查询，查询之间不会相互影响，格式如下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查询 l r x : 只保留编号在[l, r]的节点，打印点x所在连通块的颜色数量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所有数据 &lt;=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</a:t>
            </a:r>
            <a:r>
              <a:rPr>
                <a:hlinkClick r:id="rId2" invalidUrl="" action="" tgtFrame="" tooltip="" history="1" highlightClick="0" endSnd="0"/>
              </a:rPr>
              <a:t>https://www.luogu.com.cn/problem/P5311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点分治 + 树状数组 + 扫描线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不需要建立点分树，利用点分树进行分析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树状数组只记录，每种颜色出现的最右位置，非常经典的用法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点分树和动态点分治"/>
          <p:cNvSpPr txBox="1"/>
          <p:nvPr>
            <p:ph type="ctrTitle"/>
          </p:nvPr>
        </p:nvSpPr>
        <p:spPr>
          <a:xfrm>
            <a:off x="1206498" y="464303"/>
            <a:ext cx="21971004" cy="2021991"/>
          </a:xfrm>
          <a:prstGeom prst="rect">
            <a:avLst/>
          </a:prstGeom>
        </p:spPr>
        <p:txBody>
          <a:bodyPr/>
          <a:lstStyle>
            <a:lvl1pPr defTabSz="825500">
              <a:lnSpc>
                <a:spcPct val="100000"/>
              </a:lnSpc>
              <a:defRPr b="0" spc="0" sz="5500"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点分树和动态点分治</a:t>
            </a:r>
          </a:p>
        </p:txBody>
      </p:sp>
      <p:sp>
        <p:nvSpPr>
          <p:cNvPr id="188" name="左程云"/>
          <p:cNvSpPr txBox="1"/>
          <p:nvPr/>
        </p:nvSpPr>
        <p:spPr>
          <a:xfrm>
            <a:off x="1206500" y="12631366"/>
            <a:ext cx="21971001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r" defTabSz="8255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lvl1pPr>
          </a:lstStyle>
          <a:p>
            <a:pPr/>
            <a:r>
              <a:t>左程云</a:t>
            </a:r>
          </a:p>
        </p:txBody>
      </p:sp>
      <p:sp>
        <p:nvSpPr>
          <p:cNvPr id="189" name="题目7…"/>
          <p:cNvSpPr txBox="1"/>
          <p:nvPr/>
        </p:nvSpPr>
        <p:spPr>
          <a:xfrm>
            <a:off x="1206499" y="2978820"/>
            <a:ext cx="21971002" cy="9365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题目7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捉迷藏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树上有n个点，点的初始颜色为黑，给定n-1条边，边权都是1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一共有m条操作，每条操作是如下两种类型中的一种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C x : 改变点x的颜色，黑变成白，白变成黑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操作 G   : 打印最远的两个黑点的距离，只有一个黑点打印0，无黑点打印-1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1 &lt;= n &lt;= 10^5    1 &lt;= m &lt;= 5 * 10^5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测试链接 : https://www.luogu.com.cn/problem/P2056</a:t>
            </a:r>
          </a:p>
          <a:p>
            <a:pPr algn="l" defTabSz="457200">
              <a:defRPr sz="3600">
                <a:solidFill>
                  <a:srgbClr val="000000"/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本题属于树上开关类问题，改变节点状态，查询最大/最小距离等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解法有点分树、线段树分治、树链剖分、LCT等等，单次查询复杂度O(log n * log n)</a:t>
            </a: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</a:p>
          <a:p>
            <a:pPr algn="l" defTabSz="457200">
              <a:defRPr sz="3600">
                <a:solidFill>
                  <a:schemeClr val="accent5">
                    <a:hueOff val="-82419"/>
                    <a:satOff val="-9513"/>
                    <a:lumOff val="-16343"/>
                  </a:schemeClr>
                </a:solidFill>
                <a:latin typeface="Monaco"/>
                <a:ea typeface="Monaco"/>
                <a:cs typeface="Monaco"/>
                <a:sym typeface="Monaco"/>
              </a:defRPr>
            </a:pPr>
            <a:r>
              <a:t>最优解，树的括号序 + 设计很巧妙的线段树，单次查询复杂度O(log n)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2400" u="none" kumimoji="0" normalizeH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