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Shape 14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9" name="Shape 14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/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Author and Date</a:t>
            </a:r>
          </a:p>
        </p:txBody>
      </p:sp>
      <p:sp>
        <p:nvSpPr>
          <p:cNvPr id="12" name="Presentation Title"/>
          <p:cNvSpPr txBox="1"/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13" name="Body Level One…"/>
          <p:cNvSpPr txBox="1"/>
          <p:nvPr>
            <p:ph type="body" sz="quarter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vocados and limes"/>
          <p:cNvSpPr/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2" name="Presentation Title"/>
          <p:cNvSpPr txBox="1"/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23" name="Author and Date"/>
          <p:cNvSpPr txBox="1"/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Author and Date</a:t>
            </a:r>
          </a:p>
        </p:txBody>
      </p:sp>
      <p:sp>
        <p:nvSpPr>
          <p:cNvPr id="24" name="Body Level One…"/>
          <p:cNvSpPr txBox="1"/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Bowl with salmon cakes, salad, and hummus"/>
          <p:cNvSpPr/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3" name="Slide Title"/>
          <p:cNvSpPr txBox="1"/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pPr/>
            <a:r>
              <a:t>Slide Title</a:t>
            </a:r>
          </a:p>
        </p:txBody>
      </p:sp>
      <p:sp>
        <p:nvSpPr>
          <p:cNvPr id="34" name="Body Level One…"/>
          <p:cNvSpPr txBox="1"/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43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44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61" name="Body Level One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2" name="Bowl of pappardelle pasta with parsley butter, roasted hazelnuts, and shaved parmesan cheese"/>
          <p:cNvSpPr/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3" name="Slide Title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6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ection Title"/>
          <p:cNvSpPr txBox="1"/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b="0"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Section Title</a:t>
            </a:r>
          </a:p>
        </p:txBody>
      </p:sp>
      <p:sp>
        <p:nvSpPr>
          <p:cNvPr id="72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80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8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Agenda Title"/>
          <p:cNvSpPr txBox="1"/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pPr/>
            <a:r>
              <a:t>Agenda Title</a:t>
            </a:r>
          </a:p>
        </p:txBody>
      </p:sp>
      <p:sp>
        <p:nvSpPr>
          <p:cNvPr id="89" name="Agenda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Agenda Subtitle</a:t>
            </a:r>
          </a:p>
        </p:txBody>
      </p:sp>
      <p:sp>
        <p:nvSpPr>
          <p:cNvPr id="90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5pPr>
          </a:lstStyle>
          <a:p>
            <a:pPr/>
            <a:r>
              <a:t>Agenda Topics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Body Level One…"/>
          <p:cNvSpPr txBox="1"/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Statement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Body Level One…"/>
          <p:cNvSpPr txBox="1"/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5pPr>
          </a:lstStyle>
          <a:p>
            <a:pPr/>
            <a:r>
              <a:t>100%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07" name="Fact information"/>
          <p:cNvSpPr txBox="1"/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Fact information</a:t>
            </a:r>
          </a:p>
        </p:txBody>
      </p:sp>
      <p:sp>
        <p:nvSpPr>
          <p:cNvPr id="10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Attribution"/>
          <p:cNvSpPr txBox="1"/>
          <p:nvPr>
            <p:ph type="body" sz="quarter" idx="21" hasCustomPrompt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Attribution</a:t>
            </a:r>
          </a:p>
        </p:txBody>
      </p:sp>
      <p:sp>
        <p:nvSpPr>
          <p:cNvPr id="116" name="Body Level One…"/>
          <p:cNvSpPr txBox="1"/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“Notable Quote”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Bowl of salad with fried rice, boiled eggs, and chopsticks"/>
          <p:cNvSpPr/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5" name="Bowl with salmon cakes, salad, and hummus "/>
          <p:cNvSpPr/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6" name="Bowl of pappardelle pasta with parsley butter, roasted hazelnuts, and shaved parmesan cheese"/>
          <p:cNvSpPr/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bowl of salad with fried rice, boiled eggs, and chopsticks"/>
          <p:cNvSpPr/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Title</a:t>
            </a:r>
          </a:p>
        </p:txBody>
      </p:sp>
      <p:sp>
        <p:nvSpPr>
          <p:cNvPr id="3" name="Body Level One…"/>
          <p:cNvSpPr txBox="1"/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defTabSz="584200">
              <a:defRPr sz="1800"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transition xmlns:p14="http://schemas.microsoft.com/office/powerpoint/2010/main" spd="med" advClick="1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uogu.com.cn/problem/B3609" TargetMode="Externa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uogu.com.cn/problem/U224391" TargetMode="Externa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uogu.com.cn/problem/P1726" TargetMode="Externa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uogu.com.cn/problem/P2341" TargetMode="Externa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uogu.com.cn/problem/P2002" TargetMode="Externa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uogu.com.cn/problem/P2812" TargetMode="Externa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uogu.com.cn/problem/P1262" TargetMode="Externa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codeforces.com/problemset/problem/427/C" TargetMode="Externa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uogu.com.cn/problem/P10944" TargetMode="Externa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uogu.com.cn/problem/P1407" TargetMode="Externa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强连通分量和缩点-上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强连通分量和缩点-上</a:t>
            </a:r>
          </a:p>
        </p:txBody>
      </p:sp>
      <p:sp>
        <p:nvSpPr>
          <p:cNvPr id="152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53" name="前置知识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前置知识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讲解059 ~ 讲解065 - 必备阶段的图内容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讲解060 - 利用拓扑排序完成DAG的动态规划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讲解118 - 树上dfs函数从递归版改迭代版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本节课讲述</a:t>
            </a: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Tarjan算法求解强连通分量   题目1、题目2、题目3</a:t>
            </a: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讨论出度入度的题型         题目4、题目5、题目6</a:t>
            </a: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分析缩点点权的题型         题目7、题目8</a:t>
            </a: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缩点的两道经典题目         题目9、题目10</a:t>
            </a: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下节课讲述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缩点结合拓扑排序、动态规划、最短路、树上背包、差分约束，等更多的内容和题目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强连通分量和缩点-上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强连通分量和缩点-上</a:t>
            </a:r>
          </a:p>
        </p:txBody>
      </p:sp>
      <p:sp>
        <p:nvSpPr>
          <p:cNvPr id="156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57" name="强连通分量，SCC，Strongly Connected Components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强连通分量，SCC，Strongly Connected Components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1，有向图中，一些点可以彼此相互到达，这些点就构成一个强连通分量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2，一个强连通分量缩成一个点，原图会变成DAG(Directed Acyclic Graph)，有向无环图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3，因为没有环，求解问题变得非常方便，最常用的求解手段就是拓扑排序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4，需要保证缩点之后，求解答案不受影响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5，求解强连通分量，掌握Tarjan算法即可，其他方法不再讲述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课上重点图解，普通图缩点变成DAG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强连通分量和缩点-上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强连通分量和缩点-上</a:t>
            </a:r>
          </a:p>
        </p:txBody>
      </p:sp>
      <p:sp>
        <p:nvSpPr>
          <p:cNvPr id="160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61" name="Tarjan算法的必备概念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Tarjan算法的必备概念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1，边分为三种类型，树边、回边、弃边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2，dfn[u]，节点u获得的dfn序号</a:t>
            </a: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3，low[u]，u及其子树上的点，最多走一条回边，能到达的树的最上方点，是什么dfn序号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4，belong[u]，节点u分配的强连通分量序号，如果belong[u]为0，表示还没分配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5，遍历图的过程中，准备一个栈sta，用来收集遍历到的节点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6，遍历到的节点先进栈，一旦该节点分配了强连通分量，就从栈中弹出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课上重点图解，边的类型，low的含义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强连通分量和缩点-上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强连通分量和缩点-上</a:t>
            </a:r>
          </a:p>
        </p:txBody>
      </p:sp>
      <p:sp>
        <p:nvSpPr>
          <p:cNvPr id="164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65" name="Tarjan算法的过程，直观理解为 扎口袋算法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Tarjan算法的过程，直观理解为 </a:t>
            </a:r>
            <a:r>
              <a:rPr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</a:rPr>
              <a:t>扎口袋算法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1，初次来到u时，dfn[u] = low[u] = 分配的dfn序号，然后节点u进栈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2，遍历u的每个儿子v，讨论u和v之间的边是什么类型，如果是弃边，什么也不做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3，如果是树边，先递归计算low[v]，然后low[u] = min(low[u], low[v])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4，如果是回边，直接low[u] = min(low[u], dfn[v])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5，遍历结束后，判断dfn[u]是否等于low[u]，如果不等，代表节点u不能扎起口袋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6，如果相等，代表节点u能扎起口袋，栈弹出节点，直到u出现时停止，这批节点属于一个强连通分量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7，考察图中每个节点，一旦发现dfn[i] == 0，就从i节点开始，执行一遍Tarjan算法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8，最终得到图中全部强连通分量，时间复杂度O(n + m)，n为节点数，m为边数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课上重点图解，Tarjan算法的过程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强连通分量和缩点-上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强连通分量和缩点-上</a:t>
            </a:r>
          </a:p>
        </p:txBody>
      </p:sp>
      <p:sp>
        <p:nvSpPr>
          <p:cNvPr id="168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69" name="一个非常著名疑问点，当前节点u，如果遇到了回边，那么以下两个逻辑，到底哪个是对的？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一个非常著名疑问点，当前节点u，如果遇到了回边，那么以下两个逻辑，到底哪个是对的？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rPr>
                <a:solidFill>
                  <a:srgbClr val="931A68"/>
                </a:solidFill>
              </a:rPr>
              <a:t>for</a:t>
            </a:r>
            <a:r>
              <a:t> (</a:t>
            </a:r>
            <a:r>
              <a:rPr>
                <a:solidFill>
                  <a:srgbClr val="931A68"/>
                </a:solidFill>
              </a:rPr>
              <a:t>int</a:t>
            </a:r>
            <a:r>
              <a:t> </a:t>
            </a:r>
            <a:r>
              <a:rPr>
                <a:solidFill>
                  <a:srgbClr val="7E504F"/>
                </a:solidFill>
              </a:rPr>
              <a:t>e</a:t>
            </a:r>
            <a:r>
              <a:t> = </a:t>
            </a:r>
            <a:r>
              <a:rPr>
                <a:solidFill>
                  <a:srgbClr val="0326CC"/>
                </a:solidFill>
              </a:rPr>
              <a:t>head</a:t>
            </a:r>
            <a:r>
              <a:t>[</a:t>
            </a:r>
            <a:r>
              <a:rPr>
                <a:solidFill>
                  <a:srgbClr val="7E504F"/>
                </a:solidFill>
              </a:rPr>
              <a:t>u</a:t>
            </a:r>
            <a:r>
              <a:t>]; </a:t>
            </a:r>
            <a:r>
              <a:rPr>
                <a:solidFill>
                  <a:srgbClr val="7E504F"/>
                </a:solidFill>
              </a:rPr>
              <a:t>e</a:t>
            </a:r>
            <a:r>
              <a:t> &gt; 0; </a:t>
            </a:r>
            <a:r>
              <a:rPr>
                <a:solidFill>
                  <a:srgbClr val="7E504F"/>
                </a:solidFill>
              </a:rPr>
              <a:t>e</a:t>
            </a:r>
            <a:r>
              <a:t> = </a:t>
            </a:r>
            <a:r>
              <a:rPr>
                <a:solidFill>
                  <a:srgbClr val="0326CC"/>
                </a:solidFill>
              </a:rPr>
              <a:t>nxt</a:t>
            </a:r>
            <a:r>
              <a:t>[</a:t>
            </a:r>
            <a:r>
              <a:rPr>
                <a:solidFill>
                  <a:srgbClr val="7E504F"/>
                </a:solidFill>
              </a:rPr>
              <a:t>e</a:t>
            </a:r>
            <a:r>
              <a:t>]) {</a:t>
            </a:r>
          </a:p>
          <a:p>
            <a:pPr algn="l" defTabSz="457200">
              <a:defRPr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</a:t>
            </a:r>
            <a:r>
              <a:rPr>
                <a:solidFill>
                  <a:srgbClr val="931A68"/>
                </a:solidFill>
              </a:rPr>
              <a:t>int</a:t>
            </a:r>
            <a:r>
              <a:t> </a:t>
            </a:r>
            <a:r>
              <a:rPr>
                <a:solidFill>
                  <a:srgbClr val="7E504F"/>
                </a:solidFill>
              </a:rPr>
              <a:t>v</a:t>
            </a:r>
            <a:r>
              <a:t> = </a:t>
            </a:r>
            <a:r>
              <a:rPr>
                <a:solidFill>
                  <a:srgbClr val="0326CC"/>
                </a:solidFill>
              </a:rPr>
              <a:t>to</a:t>
            </a:r>
            <a:r>
              <a:t>[</a:t>
            </a:r>
            <a:r>
              <a:rPr>
                <a:solidFill>
                  <a:srgbClr val="7E504F"/>
                </a:solidFill>
              </a:rPr>
              <a:t>e</a:t>
            </a:r>
            <a:r>
              <a:t>];</a:t>
            </a:r>
          </a:p>
          <a:p>
            <a:pPr algn="l" defTabSz="457200">
              <a:defRPr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</a:t>
            </a:r>
            <a:r>
              <a:rPr>
                <a:solidFill>
                  <a:srgbClr val="931A68"/>
                </a:solidFill>
              </a:rPr>
              <a:t>if</a:t>
            </a:r>
            <a:r>
              <a:t> (</a:t>
            </a:r>
            <a:r>
              <a:rPr>
                <a:solidFill>
                  <a:srgbClr val="0326CC"/>
                </a:solidFill>
              </a:rPr>
              <a:t>dfn</a:t>
            </a:r>
            <a:r>
              <a:t>[</a:t>
            </a:r>
            <a:r>
              <a:rPr>
                <a:solidFill>
                  <a:srgbClr val="7E504F"/>
                </a:solidFill>
              </a:rPr>
              <a:t>v</a:t>
            </a:r>
            <a:r>
              <a:t>] == 0) { </a:t>
            </a:r>
            <a:r>
              <a:rPr>
                <a:solidFill>
                  <a:srgbClr val="4E9072"/>
                </a:solidFill>
              </a:rPr>
              <a:t>// 树边</a:t>
            </a:r>
          </a:p>
          <a:p>
            <a:pPr algn="l" defTabSz="457200">
              <a:defRPr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    tarjan(</a:t>
            </a:r>
            <a:r>
              <a:rPr>
                <a:solidFill>
                  <a:srgbClr val="7E504F"/>
                </a:solidFill>
              </a:rPr>
              <a:t>v</a:t>
            </a:r>
            <a:r>
              <a:t>);</a:t>
            </a:r>
          </a:p>
          <a:p>
            <a:pPr algn="l" defTabSz="457200">
              <a:defRPr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    </a:t>
            </a:r>
            <a:r>
              <a:rPr>
                <a:solidFill>
                  <a:srgbClr val="0326CC"/>
                </a:solidFill>
              </a:rPr>
              <a:t>low</a:t>
            </a:r>
            <a:r>
              <a:t>[</a:t>
            </a:r>
            <a:r>
              <a:rPr>
                <a:solidFill>
                  <a:srgbClr val="7E504F"/>
                </a:solidFill>
              </a:rPr>
              <a:t>u</a:t>
            </a:r>
            <a:r>
              <a:t>] = min(</a:t>
            </a:r>
            <a:r>
              <a:rPr>
                <a:solidFill>
                  <a:srgbClr val="0326CC"/>
                </a:solidFill>
              </a:rPr>
              <a:t>low</a:t>
            </a:r>
            <a:r>
              <a:t>[</a:t>
            </a:r>
            <a:r>
              <a:rPr>
                <a:solidFill>
                  <a:srgbClr val="7E504F"/>
                </a:solidFill>
              </a:rPr>
              <a:t>u</a:t>
            </a:r>
            <a:r>
              <a:t>], </a:t>
            </a:r>
            <a:r>
              <a:rPr>
                <a:solidFill>
                  <a:srgbClr val="0326CC"/>
                </a:solidFill>
              </a:rPr>
              <a:t>low</a:t>
            </a:r>
            <a:r>
              <a:t>[</a:t>
            </a:r>
            <a:r>
              <a:rPr>
                <a:solidFill>
                  <a:srgbClr val="7E504F"/>
                </a:solidFill>
              </a:rPr>
              <a:t>v</a:t>
            </a:r>
            <a:r>
              <a:t>]);</a:t>
            </a:r>
          </a:p>
          <a:p>
            <a:pPr algn="l" defTabSz="457200">
              <a:defRPr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} </a:t>
            </a:r>
            <a:r>
              <a:rPr>
                <a:solidFill>
                  <a:srgbClr val="931A68"/>
                </a:solidFill>
              </a:rPr>
              <a:t>else</a:t>
            </a:r>
            <a:r>
              <a:t> {</a:t>
            </a:r>
          </a:p>
          <a:p>
            <a:pPr algn="l" defTabSz="457200">
              <a:defRPr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    </a:t>
            </a:r>
            <a:r>
              <a:rPr>
                <a:solidFill>
                  <a:srgbClr val="931A68"/>
                </a:solidFill>
              </a:rPr>
              <a:t>if</a:t>
            </a:r>
            <a:r>
              <a:t> (</a:t>
            </a:r>
            <a:r>
              <a:rPr>
                <a:solidFill>
                  <a:srgbClr val="0326CC"/>
                </a:solidFill>
              </a:rPr>
              <a:t>belong</a:t>
            </a:r>
            <a:r>
              <a:t>[</a:t>
            </a:r>
            <a:r>
              <a:rPr>
                <a:solidFill>
                  <a:srgbClr val="7E504F"/>
                </a:solidFill>
              </a:rPr>
              <a:t>v</a:t>
            </a:r>
            <a:r>
              <a:t>] == 0) { </a:t>
            </a:r>
            <a:r>
              <a:rPr>
                <a:solidFill>
                  <a:srgbClr val="4E9072"/>
                </a:solidFill>
              </a:rPr>
              <a:t>// 回边</a:t>
            </a:r>
          </a:p>
          <a:p>
            <a:pPr algn="l" defTabSz="457200">
              <a:defRPr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        第一种写法，</a:t>
            </a:r>
            <a:r>
              <a:rPr>
                <a:solidFill>
                  <a:srgbClr val="0326CC"/>
                </a:solidFill>
              </a:rPr>
              <a:t>low</a:t>
            </a:r>
            <a:r>
              <a:t>[</a:t>
            </a:r>
            <a:r>
              <a:rPr>
                <a:solidFill>
                  <a:srgbClr val="7E504F"/>
                </a:solidFill>
              </a:rPr>
              <a:t>u</a:t>
            </a:r>
            <a:r>
              <a:t>] = min(</a:t>
            </a:r>
            <a:r>
              <a:rPr>
                <a:solidFill>
                  <a:srgbClr val="0326CC"/>
                </a:solidFill>
              </a:rPr>
              <a:t>low</a:t>
            </a:r>
            <a:r>
              <a:t>[</a:t>
            </a:r>
            <a:r>
              <a:rPr>
                <a:solidFill>
                  <a:srgbClr val="7E504F"/>
                </a:solidFill>
              </a:rPr>
              <a:t>u</a:t>
            </a:r>
            <a:r>
              <a:t>], </a:t>
            </a:r>
            <a:r>
              <a:rPr>
                <a:solidFill>
                  <a:srgbClr val="0326CC"/>
                </a:solidFill>
              </a:rPr>
              <a:t>dfn</a:t>
            </a:r>
            <a:r>
              <a:t>[</a:t>
            </a:r>
            <a:r>
              <a:rPr>
                <a:solidFill>
                  <a:srgbClr val="7E504F"/>
                </a:solidFill>
              </a:rPr>
              <a:t>v</a:t>
            </a:r>
            <a:r>
              <a:t>]);</a:t>
            </a:r>
          </a:p>
          <a:p>
            <a:pPr algn="l" defTabSz="457200">
              <a:defRPr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        第二种写法，</a:t>
            </a:r>
            <a:r>
              <a:rPr>
                <a:solidFill>
                  <a:srgbClr val="0326CC"/>
                </a:solidFill>
              </a:rPr>
              <a:t>low</a:t>
            </a:r>
            <a:r>
              <a:t>[</a:t>
            </a:r>
            <a:r>
              <a:rPr>
                <a:solidFill>
                  <a:srgbClr val="7E504F"/>
                </a:solidFill>
              </a:rPr>
              <a:t>u</a:t>
            </a:r>
            <a:r>
              <a:t>] = min(</a:t>
            </a:r>
            <a:r>
              <a:rPr>
                <a:solidFill>
                  <a:srgbClr val="0326CC"/>
                </a:solidFill>
              </a:rPr>
              <a:t>low</a:t>
            </a:r>
            <a:r>
              <a:t>[</a:t>
            </a:r>
            <a:r>
              <a:rPr>
                <a:solidFill>
                  <a:srgbClr val="7E504F"/>
                </a:solidFill>
              </a:rPr>
              <a:t>u</a:t>
            </a:r>
            <a:r>
              <a:t>], </a:t>
            </a:r>
            <a:r>
              <a:rPr>
                <a:solidFill>
                  <a:srgbClr val="0326CC"/>
                </a:solidFill>
              </a:rPr>
              <a:t>low</a:t>
            </a:r>
            <a:r>
              <a:t>[</a:t>
            </a:r>
            <a:r>
              <a:rPr>
                <a:solidFill>
                  <a:srgbClr val="7E504F"/>
                </a:solidFill>
              </a:rPr>
              <a:t>v</a:t>
            </a:r>
            <a:r>
              <a:t>]);</a:t>
            </a:r>
          </a:p>
          <a:p>
            <a:pPr algn="l" defTabSz="457200">
              <a:defRPr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    }</a:t>
            </a:r>
          </a:p>
          <a:p>
            <a:pPr algn="l" defTabSz="457200">
              <a:defRPr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    }</a:t>
            </a:r>
          </a:p>
          <a:p>
            <a:pPr algn="l" defTabSz="457200">
              <a:defRPr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}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两种写法的运行结果都正确，但是推荐第一种写法，第二种写法会让low[u]的含义变模糊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强连通分量和缩点-上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强连通分量和缩点-上</a:t>
            </a:r>
          </a:p>
        </p:txBody>
      </p:sp>
      <p:sp>
        <p:nvSpPr>
          <p:cNvPr id="172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73" name="题目1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题目1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强连通分量模版题1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给定一张n个点，m条边的有向图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求出所有强连通分量，先打印强连通分量的数量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然后打印1号点所在的强连通分量，然后打印2号点所在的强连通分量，以此类推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如果当前节点属于之前的强连通分量，那就跳过，直到打印所有强连通分量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打印每个强连通分量时，按照节点编号从小到大打印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 &lt;= 10^4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m &lt;= 10^5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https://www.luogu.com.cn/problem/B3609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模版题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C++同学只掌握递归版即可，java同学需要递归版 + 迭代版，不会改迭代版的同学，看讲解118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强连通分量和缩点-上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强连通分量和缩点-上</a:t>
            </a:r>
          </a:p>
        </p:txBody>
      </p:sp>
      <p:sp>
        <p:nvSpPr>
          <p:cNvPr id="176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77" name="题目2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题目2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强连通分量模版题2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给定一张n个点，m条边的有向图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求出所有强连通分量，先打印强连通分量的数量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每个强连通分量先打印大小，然后打印节点编号，顺序随意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 &lt;= 5 * 10^4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m &lt;= 10^5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https://www.luogu.com.cn/problem/U224391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模版题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强连通分量和缩点-上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强连通分量和缩点-上</a:t>
            </a:r>
          </a:p>
        </p:txBody>
      </p:sp>
      <p:sp>
        <p:nvSpPr>
          <p:cNvPr id="180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81" name="题目3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题目3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强连通分量模版题3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一共有n个节点，给定m条边，边的格式 a b t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如果t为1，表示a到b的单向边，如果t为2，表示a到b的双向边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找到图中最大的强连通分量，先打印大小，然后打印包含的节点，编号从小到大输出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如果有多个最大的强连通分量，打印字典序最小的结果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 &lt;= 5 * 10^3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0 &lt;= m &lt;= 5 * 10^4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https://www.luogu.com.cn/problem/P1726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模版题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强连通分量和缩点-上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强连通分量和缩点-上</a:t>
            </a:r>
          </a:p>
        </p:txBody>
      </p:sp>
      <p:sp>
        <p:nvSpPr>
          <p:cNvPr id="184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85" name="题目4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题目4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受欢迎的牛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一共有n只牛，牛和牛之间存在喜欢关系，喜欢关系是有向的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喜欢关系可以传递，如果a喜欢b，b喜欢c，那么a也喜欢c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每只牛都喜欢自己，如果某只牛被所有牛喜欢，那么这只牛是明星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给定m个喜欢关系，打印明星的数量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 &lt;= 10^4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m &lt;= 5 * 10^4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https://www.luogu.com.cn/problem/P2341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缩点后的DAG中，讨论出度入度的题型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强连通分量和缩点-上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强连通分量和缩点-上</a:t>
            </a:r>
          </a:p>
        </p:txBody>
      </p:sp>
      <p:sp>
        <p:nvSpPr>
          <p:cNvPr id="188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89" name="题目5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消息扩散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一共有n个城市，给定m条道路，道路可以传递消息，但道路是单向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你有一个消息，需要让所有城市都收到，计算至少要在几个城市发布该消息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 &lt;= 10^5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m &lt;= 5 * 10^5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https://www.luogu.com.cn/problem/P2002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缩点后的DAG中，讨论出度入度的题型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强连通分量和缩点-上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强连通分量和缩点-上</a:t>
            </a:r>
          </a:p>
        </p:txBody>
      </p:sp>
      <p:sp>
        <p:nvSpPr>
          <p:cNvPr id="192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93" name="题目6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题目6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校园网络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一共有n个节点，m条有向边，消息只能顺着有向边传递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打印至少需要在几个节点投放消息，才能让所有节点，都能收到消息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打印至少需要添加几条边，才能让任意两个节点之间，都能传递消息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 &lt;= 10^4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m &lt;= 5 * 10^4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https://www.luogu.com.cn/problem/P2812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缩点后的DAG中，讨论出度入度的题型</a:t>
            </a: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需要最少边数的证明和构造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强连通分量和缩点-上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强连通分量和缩点-上</a:t>
            </a:r>
          </a:p>
        </p:txBody>
      </p:sp>
      <p:sp>
        <p:nvSpPr>
          <p:cNvPr id="196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97" name="题目7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题目7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间谍网络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一共有n个间谍，其中有p个间谍可以贿赂，给定各自的价格，剩下的间谍不能贿赂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然后给定m个控制关系，控制关系是单向的，也是可传递的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如果间谍a能控制间谍b，间谍b能控制间谍c，那么间谍a就能控制间谍c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当你贿赂了某个间谍，该间谍连同他能控制的所有人，都能被你控制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如果你不能控制所有间谍，打印"NO"，然后打印不能控制的间谍中，最小的编号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如果你可以控制所有间谍，打印"YES"，然后打印需要花费的最少钱数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 &lt;= 3000    0 &lt;= 各自的价格 &lt;= 20000    1 &lt;= m &lt;= 8000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https://www.luogu.com.cn/problem/P1262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分析缩点点权的题型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强连通分量和缩点-上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强连通分量和缩点-上</a:t>
            </a:r>
          </a:p>
        </p:txBody>
      </p:sp>
      <p:sp>
        <p:nvSpPr>
          <p:cNvPr id="200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201" name="题目8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题目8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检查站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给定一张n个点，m条边的有向图，每个点有点权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一个强连通分量内部，选点权最小的点，就能控制该连通分量里的所有点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你的目的是选择若干点之后，图上所有的点都能控制，打印最小点权和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打印选择点的方案数，方案数可能较大，对 1000000007 取余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 &lt;= 10^5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m &lt;= 3 * 10^5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https://www.luogu.com.cn/problem/CF427C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https://codeforces.com/problemset/problem/427/C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分析缩点点权的题型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强连通分量和缩点-上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强连通分量和缩点-上</a:t>
            </a:r>
          </a:p>
        </p:txBody>
      </p:sp>
      <p:sp>
        <p:nvSpPr>
          <p:cNvPr id="204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205" name="题目9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题目9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任意两点都有路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给定一张n个点，m条边的有向图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两点u、v，不管是从u出发能到达v，还是从v出发能到达u，都叫两点间有路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判断这个有向图是否能做到，任意两点都有路，能打印"Yes"，不能打印"No"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 &lt;= 1000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m &lt;= 6000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https://www.luogu.com.cn/problem/P10944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缩点后的建出DAG图，判断是否为一条链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强连通分量和缩点-上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强连通分量和缩点-上</a:t>
            </a:r>
          </a:p>
        </p:txBody>
      </p:sp>
      <p:sp>
        <p:nvSpPr>
          <p:cNvPr id="208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209" name="题目10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题目10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稳定婚姻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一共有n对婚姻关系，每对婚姻关系给定(女方名, 男方名)，一共2n个名字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一共有m对暧昧关系，每对暧昧关系给定(女方名, 男方名)，不会出现新名字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如果一对婚姻关系破裂，那么女方或者男方，可能会找暧昧关系的对象私奔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私奔会制造更多的婚姻破裂，并且产生进一步的私奔，事情好像多米诺骨牌一样展开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如果所有涉事男女都能重新搭配，只要存在这种可能性，那么这对婚姻关系就是不稳定的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比如A为女，B为男，婚姻关系(A1, B1)、(A2, B2)，同时暧昧关系(A1, B2)、(A2, B1)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A1和B1婚姻破裂，导致B1和A2私奔了，导致A2和B2婚姻破裂，导致B2和A1私奔了，这就是重新搭配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检查每对婚姻关系，如果不稳定打印"Unsafe"，如果稳定打印"Safe"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 &lt;= 4000    0 &lt;= m &lt;= 20000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https://www.luogu.com.cn/problem/P1407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题目分析 + 巧妙建图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5E5E5E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4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4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