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hape 14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9" name="Shape 14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/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12" name="Presentation Title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13" name="Body Level One…"/>
          <p:cNvSpPr txBox="1"/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vocados and limes"/>
          <p:cNvSpPr/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2" name="Presentation Title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23" name="Author and Date"/>
          <p:cNvSpPr txBox="1"/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24" name="Body Level One…"/>
          <p:cNvSpPr txBox="1"/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Bowl with salmon cakes, salad, and hummus"/>
          <p:cNvSpPr/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" name="Slide Title"/>
          <p:cNvSpPr txBox="1"/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pPr/>
            <a:r>
              <a:t>Slide Title</a:t>
            </a:r>
          </a:p>
        </p:txBody>
      </p:sp>
      <p:sp>
        <p:nvSpPr>
          <p:cNvPr id="34" name="Body Level One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43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44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61" name="Body Level One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2" name="Bowl of pappardelle pasta with parsley butter, roasted hazelnuts, and shaved parmesan cheese"/>
          <p:cNvSpPr/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6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ection Title"/>
          <p:cNvSpPr txBox="1"/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b="0"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Section Title</a:t>
            </a:r>
          </a:p>
        </p:txBody>
      </p:sp>
      <p:sp>
        <p:nvSpPr>
          <p:cNvPr id="72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8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8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Agenda Title"/>
          <p:cNvSpPr txBox="1"/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Agenda Title</a:t>
            </a:r>
          </a:p>
        </p:txBody>
      </p:sp>
      <p:sp>
        <p:nvSpPr>
          <p:cNvPr id="89" name="Agenda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Agenda Subtitle</a:t>
            </a:r>
          </a:p>
        </p:txBody>
      </p:sp>
      <p:sp>
        <p:nvSpPr>
          <p:cNvPr id="90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5pPr>
          </a:lstStyle>
          <a:p>
            <a:pPr/>
            <a:r>
              <a:t>Agenda Topics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ody Level One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Statement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Body Level One…"/>
          <p:cNvSpPr txBox="1"/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5pPr>
          </a:lstStyle>
          <a:p>
            <a:pPr/>
            <a:r>
              <a:t>100%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07" name="Fact information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Fact information</a:t>
            </a:r>
          </a:p>
        </p:txBody>
      </p:sp>
      <p:sp>
        <p:nvSpPr>
          <p:cNvPr id="10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Attribution"/>
          <p:cNvSpPr txBox="1"/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Attribution</a:t>
            </a:r>
          </a:p>
        </p:txBody>
      </p:sp>
      <p:sp>
        <p:nvSpPr>
          <p:cNvPr id="116" name="Body Level One…"/>
          <p:cNvSpPr txBox="1"/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“Notable Quote”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Bowl of salad with fried rice, boiled eggs, and chopsticks"/>
          <p:cNvSpPr/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5" name="Bowl with salmon cakes, salad, and hummus "/>
          <p:cNvSpPr/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6" name="Bowl of pappardelle pasta with parsley butter, roasted hazelnuts, and shaved parmesan cheese"/>
          <p:cNvSpPr/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bowl of salad with fried rice, boiled eggs, and chopsticks"/>
          <p:cNvSpPr/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Title</a:t>
            </a:r>
          </a:p>
        </p:txBody>
      </p:sp>
      <p:sp>
        <p:nvSpPr>
          <p:cNvPr id="3" name="Body Level One…"/>
          <p:cNvSpPr txBox="1"/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584200">
              <a:defRPr sz="1800"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odeforces.com/problemset/problem/44/G" TargetMode="Externa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P11716" TargetMode="Externa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P3769" TargetMode="Externa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P4848" TargetMode="Externa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K-D树的删除操作、树套树、优化建图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K-D树的删除操作、树套树、优化建图</a:t>
            </a:r>
          </a:p>
        </p:txBody>
      </p:sp>
      <p:sp>
        <p:nvSpPr>
          <p:cNvPr id="152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53" name="前置知识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前置知识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讲解064 - dijkstra算法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讲解109 - 树状数组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讲解114 - 开点线段树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讲解150 - 替罪羊树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讲解160 - 树套树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讲解195 - 优化建图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讲解205 - K-D树的原理、代码、常见题目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本节课讲述</a:t>
            </a: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K-D树的删除操作         题目1、题目2</a:t>
            </a: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树状数组套K-D树         题目3</a:t>
            </a: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线段树套K-D树           题目4</a:t>
            </a: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K-D树优化建图           题目5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K-D树的删除操作、树套树、优化建图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K-D树的删除操作、树套树、优化建图</a:t>
            </a:r>
          </a:p>
        </p:txBody>
      </p:sp>
      <p:sp>
        <p:nvSpPr>
          <p:cNvPr id="156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57" name="带删除的替罪羊树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带删除的替罪羊树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推荐我的实现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讲解150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补充了不带词频压缩的替罪羊树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我设计的替罪羊树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1，维护信息更简单，只维护存活节点的数量，不维护总的节点数量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2，判断平衡更简单，只需要平衡因子和存活节点的数量判断平衡性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3，代码实现更简单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K-D树的删除操作、树套树、优化建图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K-D树的删除操作、树套树、优化建图</a:t>
            </a:r>
          </a:p>
        </p:txBody>
      </p:sp>
      <p:sp>
        <p:nvSpPr>
          <p:cNvPr id="160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61" name="注意一个细节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注意一个细节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不带词频压缩的替罪羊树，可能存在多个key值一样的数据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如果发生重构，那么删除数据时，树上的移动方向如何确定？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先得到删除数据的rank，然后根据rank来删除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但是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替罪羊树的方式实现动态K-D树，每个数据都有K-D树的节点编号，</a:t>
            </a:r>
            <a:r>
              <a:rPr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</a:rPr>
              <a:t>如果删除可以提供节点编号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那么可以让数据坐标和节点编号，都参与排序，建树、插入、删除使用相同的比较规则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这样一来，即便有重构，也能通过比较规则，确定唯一的方向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那么删除时，不需要求出rank，通过比较规则找到数据节点即可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K-D树的删除操作、树套树、优化建图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K-D树的删除操作、树套树、优化建图</a:t>
            </a:r>
          </a:p>
        </p:txBody>
      </p:sp>
      <p:sp>
        <p:nvSpPr>
          <p:cNvPr id="164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65" name="题目1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题目1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射击场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每个靶子是一个矩形区域，x轴的范围[l, r]，y轴的范围[d, u]，还有z轴的数值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空间里有n个靶子，接下来有m发子弹，每发子弹给定出发时的x和y坐标，子弹沿z轴前进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子弹会击中前进过程中遇到的第一个尚未消失的靶子，随后击中的靶子和这发子弹都消失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对于每一发子弹，打印它击中的靶子编号，如果没有击中打印0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n、m &lt;= 10^5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0 &lt;= 坐标值 &lt;= 10^7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https://www.luogu.com.cn/problem/CF44G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https://codeforces.com/problemset/problem/44/G</a:t>
            </a: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所有子弹根据x和y坐标，建立K-D树，维护区域内子弹的最小编号</a:t>
            </a: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所有靶子根据z轴数值排序，然后每个靶子，根据xy区域进行查询，查询最小编号的子弹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K-D树的删除操作、树套树、优化建图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K-D树的删除操作、树套树、优化建图</a:t>
            </a:r>
          </a:p>
        </p:txBody>
      </p:sp>
      <p:sp>
        <p:nvSpPr>
          <p:cNvPr id="168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69" name="题目2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题目2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摄像头的修改和查询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三维空间中有n个摄像头，给定每个摄像头的初始位置，三维坐标(x, y, z)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接下来有m条操作，格式如下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操作 0 i x y z : 第i号摄像头位置变成(x, y, z)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操作 1 x y z r : 一个球体出现了，球心在(x, y, z)，半径为r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         题目保证该球体的表面会恰好碰到一个摄像头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         打印这个摄像头的编号，注意在内部的摄像头不算数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本题要求强制在线，得到操作参数的规则，打开测试链接查看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n、m &lt;= 65536    随机生成坐标的绝对值 &lt;= 100，至少小数点后5位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https://www.luogu.com.cn/problem/P11716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因为浮点误差，确定半径值，变成一个范围，利用K-D树节点维护的区域范围进行剪枝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加密函数的研究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K-D树的删除操作、树套树、优化建图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K-D树的删除操作、树套树、优化建图</a:t>
            </a:r>
          </a:p>
        </p:txBody>
      </p:sp>
      <p:sp>
        <p:nvSpPr>
          <p:cNvPr id="172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73" name="题目3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题目3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四维偏序最长链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一共n个点，每个点有四维坐标(a, b, c, d)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可以任意选择点的排列顺序，每个点最多使用一次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点x的后面可以放置点y的条件为，x每个维度的坐标值 &lt;= y对应维度的坐标值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希望选择的点尽量多，打印最多能选择几个点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5 * 10^4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-10^9 &lt;= 坐标值 &lt;= +10^9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https://www.luogu.com.cn/problem/P3769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根据a、b、c、d排序，得到点的序列，dp[i] = i号点结尾的情况下，四维偏序最长链的长度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树状数组负责b维度，K-D树负责c、d维度，dp值作为点权，K-D树维护点权最大值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树状数组需要离散化，先根据b值再根据节点编号进行排序，这样每个点的排名不重复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单次查询的复杂度不是 O( log n * √n)，而是 O(√n)，课上证明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K-D树的删除操作、树套树、优化建图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K-D树的删除操作、树套树、优化建图</a:t>
            </a:r>
          </a:p>
        </p:txBody>
      </p:sp>
      <p:sp>
        <p:nvSpPr>
          <p:cNvPr id="176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77" name="题目4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题目4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崂山白花蛇草水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网格空间n * n，一共有q条操作，类型如下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操作 1 a b v     : 坐标(a, b)，增加一个点，点权为v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操作 2 a b c d k : 查询(a, b)为左下角，(c, d)为右上角的矩形中，第k大的点权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如果点不够k个，打印 NAIVE!ORZzyz.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本题要求强制在线，得到操作参数的规则，打开测试链接查看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5 * 10^5    1 &lt;= q &lt;= 10^5    1 &lt;= v &lt;= 10^9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本题推荐loj的测试，洛谷的测试让该题变成了卡常竞赛，实在没必要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https://loj.ac/p/6016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https://www.luogu.com.cn/problem/P4848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本题要求强制在线，点权不能离线收集，所以不能离散化，于是外层的权值线段树，需要开点的设计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内层是二维动态K-D树，进行矩形范围查询，先确定点权够K个，然后寻找第K大的点权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K-D树的删除操作、树套树、优化建图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K-D树的删除操作、树套树、优化建图</a:t>
            </a:r>
          </a:p>
        </p:txBody>
      </p:sp>
      <p:sp>
        <p:nvSpPr>
          <p:cNvPr id="180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81" name="题目5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弹跳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一共有n个点，编号1~n，给定每个点的坐标(x, y)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一共有m个弹跳装置，给定每个弹跳装置的参数 p t l r d u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表示装置在p号点，花费t的时间，可以从p号点跳到[l, r] * [d, u]中的任意点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从1号点出发，可以重复经过点，也可以重复使用弹跳装置，题目保证可以到达每个点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打印从1号点到达2、3 .. n号点各自的最短用时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7 * 10^4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m &lt;= 1.5 * 10^5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https://www.luogu.com.cn/problem/P5471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每个区域设置虚点，区域虚点向该区域负责点（中位点）连边，上级区域虚点向下级区域虚点连边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弹跳装置根据其范围，向相关的区域虚点连边，等于向所有能到达的真实点连边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为了优化常数，所有弹跳装置先不连边，dijkstra执行时再处理，可以利用dist进行剪枝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